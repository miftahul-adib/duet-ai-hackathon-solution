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25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rgbClr val="F5F0EB"/>
            </a:gs>
            <a:gs pos="100000">
              <a:srgbClr val="EDE5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RoadVision DUET Vehicle Detection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Backprop SUST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YOLO-based vehicle detection for Bangladesh CCTV traffic scenes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object detection pipeline built for dense mixed traffic, small vehicles, rare regional classes, and CCTV domain shift.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24688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98448" y="2542032"/>
            <a:ext cx="188366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#11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61872" y="2863901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RANK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61872" y="304495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0.62279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20440" y="24688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30168" y="2542032"/>
            <a:ext cx="188366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#25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93592" y="2863901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RANK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93592" y="304495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0.59821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24688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61888" y="2542032"/>
            <a:ext cx="188366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mAP@0.50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25312" y="2863901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METRIC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25312" y="304495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Classes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rotWithShape="1">
          <a:gsLst>
            <a:gs pos="0">
              <a:srgbClr val="F5F0EB"/>
            </a:gs>
            <a:gs pos="100000">
              <a:srgbClr val="EDE5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Problem and Dataset 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67428" y="1325880"/>
            <a:ext cx="0" cy="3268980"/>
          </a:xfrm>
          <a:prstGeom prst="line">
            <a:avLst/>
          </a:prstGeom>
          <a:noFill/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4000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3909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and classify every vehicle in Bangladesh highway surveillance images.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4000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Prediction Per Object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41448"/>
            <a:ext cx="3909060" cy="115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X center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Y center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width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height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94860" y="1325880"/>
            <a:ext cx="4000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94860" y="1673352"/>
            <a:ext cx="1931670" cy="621792"/>
          </a:xfrm>
          <a:prstGeom prst="roundRect">
            <a:avLst>
              <a:gd name="adj" fmla="val 10294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49724" y="1709928"/>
            <a:ext cx="1821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1436" y="2021556"/>
            <a:ext cx="18585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IMAGES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6599682" y="1673352"/>
            <a:ext cx="1931670" cy="621792"/>
          </a:xfrm>
          <a:prstGeom prst="roundRect">
            <a:avLst>
              <a:gd name="adj" fmla="val 10294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54546" y="1709928"/>
            <a:ext cx="1821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10,475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36258" y="2021556"/>
            <a:ext cx="18585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ANNOTATIONS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594860" y="2368296"/>
            <a:ext cx="1931670" cy="621792"/>
          </a:xfrm>
          <a:prstGeom prst="roundRect">
            <a:avLst>
              <a:gd name="adj" fmla="val 10294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49724" y="2404872"/>
            <a:ext cx="1821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327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31436" y="2716500"/>
            <a:ext cx="18585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IMAGES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599682" y="2368296"/>
            <a:ext cx="1931670" cy="621792"/>
          </a:xfrm>
          <a:prstGeom prst="roundRect">
            <a:avLst>
              <a:gd name="adj" fmla="val 10294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54546" y="2404872"/>
            <a:ext cx="1821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36258" y="2716500"/>
            <a:ext cx="18585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CLASSES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594860" y="3063240"/>
            <a:ext cx="1931670" cy="621792"/>
          </a:xfrm>
          <a:prstGeom prst="roundRect">
            <a:avLst>
              <a:gd name="adj" fmla="val 10294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49724" y="3099816"/>
            <a:ext cx="1821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31436" y="3411444"/>
            <a:ext cx="18585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SOURCES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599682" y="3063240"/>
            <a:ext cx="1931670" cy="621792"/>
          </a:xfrm>
          <a:prstGeom prst="roundRect">
            <a:avLst>
              <a:gd name="adj" fmla="val 10294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54546" y="3099816"/>
            <a:ext cx="1821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36258" y="3411444"/>
            <a:ext cx="18585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OBJECTS / IMAGE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594860" y="3758184"/>
            <a:ext cx="1931670" cy="621792"/>
          </a:xfrm>
          <a:prstGeom prst="roundRect">
            <a:avLst>
              <a:gd name="adj" fmla="val 10294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49724" y="3794760"/>
            <a:ext cx="1821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31436" y="4106388"/>
            <a:ext cx="18585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OBJECTS / IMG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599682" y="3758184"/>
            <a:ext cx="1931670" cy="621792"/>
          </a:xfrm>
          <a:prstGeom prst="roundRect">
            <a:avLst>
              <a:gd name="adj" fmla="val 10294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54546" y="3794760"/>
            <a:ext cx="1821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36258" y="4106388"/>
            <a:ext cx="18585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OBJECTS IN ONE IMG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rotWithShape="1">
          <a:gsLst>
            <a:gs pos="0">
              <a:srgbClr val="F5F0EB"/>
            </a:gs>
            <a:gs pos="100000">
              <a:srgbClr val="EDE5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FINDING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Severe Class Imbalance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212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" y="1380744"/>
            <a:ext cx="2511552" cy="1911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346704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 count per class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261360" y="1325880"/>
            <a:ext cx="26212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16224" y="1380744"/>
            <a:ext cx="2511552" cy="19110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07080" y="3346704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share by proportion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974080" y="1325880"/>
            <a:ext cx="26212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28944" y="1380744"/>
            <a:ext cx="2511552" cy="19110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19800" y="3346704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Log-scale ranking: full imbalance gap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548640" y="3547872"/>
            <a:ext cx="19431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40080" y="3621024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Frequent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40080" y="3822192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 Car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40080" y="4005072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2,480 annotations · 23.68%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2583180" y="3547872"/>
            <a:ext cx="19431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2674620" y="3621024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Frequent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2674620" y="3822192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 Use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674620" y="4005072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annotations · 0.79%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4617720" y="3547872"/>
            <a:ext cx="19431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709160" y="3621024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 Ratio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709160" y="3822192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29.88×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709160" y="4005072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 Car vs Agro Use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6652260" y="3547872"/>
            <a:ext cx="19431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743700" y="3621024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Shannon Entropy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743700" y="3822192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3.063 / 3.700 bits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743700" y="4005072"/>
            <a:ext cx="1760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82.8% of max entropy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rotWithShape="1">
          <a:gsLst>
            <a:gs pos="0">
              <a:srgbClr val="F5F0EB"/>
            </a:gs>
            <a:gs pos="100000">
              <a:srgbClr val="EDE5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FINDING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Box Geometry Creates Detection Difficulty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8046720" cy="0"/>
          </a:xfrm>
          <a:prstGeom prst="line">
            <a:avLst/>
          </a:prstGeom>
          <a:noFill/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2621280" cy="2039112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" y="1316736"/>
            <a:ext cx="2511552" cy="1728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099816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by class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261360" y="1261872"/>
            <a:ext cx="2621280" cy="2039112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16224" y="1323221"/>
            <a:ext cx="2511552" cy="17282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07080" y="3099816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 area by class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974080" y="1261872"/>
            <a:ext cx="2621280" cy="2039112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28944" y="1316736"/>
            <a:ext cx="2511552" cy="1728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19800" y="3099816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ratio by class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548640" y="3447288"/>
            <a:ext cx="1943100" cy="548640"/>
          </a:xfrm>
          <a:prstGeom prst="roundRect">
            <a:avLst>
              <a:gd name="adj" fmla="val 11667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03504" y="3483864"/>
            <a:ext cx="1833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0.00862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85216" y="3754526"/>
            <a:ext cx="18699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BOX AREA</a:t>
            </a:r>
            <a:endParaRPr lang="en-US" sz="650" dirty="0"/>
          </a:p>
        </p:txBody>
      </p:sp>
      <p:sp>
        <p:nvSpPr>
          <p:cNvPr id="17" name="Shape 12"/>
          <p:cNvSpPr/>
          <p:nvPr/>
        </p:nvSpPr>
        <p:spPr>
          <a:xfrm>
            <a:off x="2583180" y="3447288"/>
            <a:ext cx="1943100" cy="548640"/>
          </a:xfrm>
          <a:prstGeom prst="roundRect">
            <a:avLst>
              <a:gd name="adj" fmla="val 11667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2638044" y="3483864"/>
            <a:ext cx="1833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0.00421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619756" y="3754526"/>
            <a:ext cx="18699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BOX AREA</a:t>
            </a:r>
            <a:endParaRPr lang="en-US" sz="650" dirty="0"/>
          </a:p>
        </p:txBody>
      </p:sp>
      <p:sp>
        <p:nvSpPr>
          <p:cNvPr id="20" name="Shape 15"/>
          <p:cNvSpPr/>
          <p:nvPr/>
        </p:nvSpPr>
        <p:spPr>
          <a:xfrm>
            <a:off x="4617720" y="3447288"/>
            <a:ext cx="1943100" cy="548640"/>
          </a:xfrm>
          <a:prstGeom prst="roundRect">
            <a:avLst>
              <a:gd name="adj" fmla="val 11667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4672584" y="3483864"/>
            <a:ext cx="1833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654296" y="3754526"/>
            <a:ext cx="18699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BOXES (&lt;0.0005 AREA)</a:t>
            </a:r>
            <a:endParaRPr lang="en-US" sz="650" dirty="0"/>
          </a:p>
        </p:txBody>
      </p:sp>
      <p:sp>
        <p:nvSpPr>
          <p:cNvPr id="23" name="Shape 18"/>
          <p:cNvSpPr/>
          <p:nvPr/>
        </p:nvSpPr>
        <p:spPr>
          <a:xfrm>
            <a:off x="6652260" y="3447288"/>
            <a:ext cx="1943100" cy="548640"/>
          </a:xfrm>
          <a:prstGeom prst="roundRect">
            <a:avLst>
              <a:gd name="adj" fmla="val 11667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707124" y="3483864"/>
            <a:ext cx="1833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688836" y="3754526"/>
            <a:ext cx="18699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CLIPPED BOUNDARY BOXES</a:t>
            </a:r>
            <a:endParaRPr lang="en-US" sz="650" dirty="0"/>
          </a:p>
        </p:txBody>
      </p:sp>
      <p:sp>
        <p:nvSpPr>
          <p:cNvPr id="26" name="Shape 21"/>
          <p:cNvSpPr/>
          <p:nvPr/>
        </p:nvSpPr>
        <p:spPr>
          <a:xfrm>
            <a:off x="548640" y="4069080"/>
            <a:ext cx="3977640" cy="75438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58368" y="4133088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Spread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58368" y="4325112"/>
            <a:ext cx="375818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footprint — Motorcycle. Largest — Large Bus and Medium Truck. Trailer, Mini Truck, Microbus, Sedan Car, and Pickup overlap in geometry range.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617720" y="4069080"/>
            <a:ext cx="3977640" cy="75438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4727448" y="4142232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Takeaway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727448" y="4343400"/>
            <a:ext cx="3758184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must handle very small distant vehicles and larger overlapping categories simultaneously. Supports 1280 training, robust augmentation, and careful post-processing.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rotWithShape="1">
          <a:gsLst>
            <a:gs pos="0">
              <a:srgbClr val="F5F0EB"/>
            </a:gs>
            <a:gs pos="100000">
              <a:srgbClr val="EDE5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EDA Guided the Full Modeling Strategy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54780" cy="179451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54780" cy="54864"/>
          </a:xfrm>
          <a:prstGeom prst="roundRect">
            <a:avLst>
              <a:gd name="adj" fmla="val 83333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6656" y="1463040"/>
            <a:ext cx="36987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SIGNAL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6656" y="1645920"/>
            <a:ext cx="36987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1883664"/>
            <a:ext cx="3698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 Car — 2,480 annotations; Agro Use — 83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" y="2538032"/>
            <a:ext cx="3698748" cy="0"/>
          </a:xfrm>
          <a:prstGeom prst="line">
            <a:avLst/>
          </a:prstGeom>
          <a:noFill/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" y="2573922"/>
            <a:ext cx="3698748" cy="50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Rare class handling and copy-paste augmentation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0580" y="1371600"/>
            <a:ext cx="3954780" cy="179451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40580" y="1371600"/>
            <a:ext cx="3954780" cy="54864"/>
          </a:xfrm>
          <a:prstGeom prst="roundRect">
            <a:avLst>
              <a:gd name="adj" fmla="val 83333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68596" y="1463040"/>
            <a:ext cx="36987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SIGNAL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68596" y="1645920"/>
            <a:ext cx="36987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object geometry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8596" y="1883664"/>
            <a:ext cx="3698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width 0.046, minimum width 0.006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68596" y="2538032"/>
            <a:ext cx="3698748" cy="0"/>
          </a:xfrm>
          <a:prstGeom prst="line">
            <a:avLst/>
          </a:prstGeom>
          <a:noFill/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68596" y="2573922"/>
            <a:ext cx="3698748" cy="50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1280 image size and SAHI tiled inference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03270"/>
            <a:ext cx="3954780" cy="170307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303270"/>
            <a:ext cx="3954780" cy="54864"/>
          </a:xfrm>
          <a:prstGeom prst="roundRect">
            <a:avLst>
              <a:gd name="adj" fmla="val 83333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" y="3394710"/>
            <a:ext cx="36987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SIGNAL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3577590"/>
            <a:ext cx="36987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traffic scenes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" y="3815334"/>
            <a:ext cx="3698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12.93 objects/image; max 38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" y="4469702"/>
            <a:ext cx="3698748" cy="0"/>
          </a:xfrm>
          <a:prstGeom prst="line">
            <a:avLst/>
          </a:prstGeom>
          <a:noFill/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" y="4505592"/>
            <a:ext cx="3698748" cy="50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Mosaic, MixUp, and recall-preserving inference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40580" y="3309755"/>
            <a:ext cx="3954780" cy="170307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40580" y="3303270"/>
            <a:ext cx="3954780" cy="54864"/>
          </a:xfrm>
          <a:prstGeom prst="roundRect">
            <a:avLst>
              <a:gd name="adj" fmla="val 83333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68596" y="3394710"/>
            <a:ext cx="36987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SIGNAL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68596" y="3577590"/>
            <a:ext cx="36987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overlap and class similarity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68596" y="3815334"/>
            <a:ext cx="36987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classes share similar area, aspect ratio, and diagonal ranges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68596" y="4469702"/>
            <a:ext cx="3698748" cy="0"/>
          </a:xfrm>
          <a:prstGeom prst="line">
            <a:avLst/>
          </a:prstGeom>
          <a:noFill/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68596" y="4505592"/>
            <a:ext cx="3698748" cy="44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Careful merging, low confidence preservation, validation-based review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rotWithShape="1">
          <a:gsLst>
            <a:gs pos="0">
              <a:srgbClr val="F5F0EB"/>
            </a:gs>
            <a:gs pos="100000">
              <a:srgbClr val="EDE5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Training and Inference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07146" cy="438912"/>
          </a:xfrm>
          <a:prstGeom prst="roundRect">
            <a:avLst>
              <a:gd name="adj" fmla="val 12500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5216" y="1344168"/>
            <a:ext cx="9339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Audit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5786" y="1545336"/>
            <a:ext cx="13716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92946" y="1325880"/>
            <a:ext cx="1007146" cy="438912"/>
          </a:xfrm>
          <a:prstGeom prst="roundRect">
            <a:avLst>
              <a:gd name="adj" fmla="val 12500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29522" y="1344168"/>
            <a:ext cx="9339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Conversion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00093" y="1545336"/>
            <a:ext cx="13716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37253" y="1325880"/>
            <a:ext cx="1007146" cy="438912"/>
          </a:xfrm>
          <a:prstGeom prst="roundRect">
            <a:avLst>
              <a:gd name="adj" fmla="val 12500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73829" y="1344168"/>
            <a:ext cx="9339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4399" y="1545336"/>
            <a:ext cx="13716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81559" y="1325880"/>
            <a:ext cx="1007146" cy="438912"/>
          </a:xfrm>
          <a:prstGeom prst="roundRect">
            <a:avLst>
              <a:gd name="adj" fmla="val 12500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18135" y="1344168"/>
            <a:ext cx="9339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88705" y="1545336"/>
            <a:ext cx="13716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25865" y="1325880"/>
            <a:ext cx="1007146" cy="438912"/>
          </a:xfrm>
          <a:prstGeom prst="roundRect">
            <a:avLst>
              <a:gd name="adj" fmla="val 12500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62441" y="1344168"/>
            <a:ext cx="9339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33011" y="1545336"/>
            <a:ext cx="13716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70171" y="1325880"/>
            <a:ext cx="1007146" cy="438912"/>
          </a:xfrm>
          <a:prstGeom prst="roundRect">
            <a:avLst>
              <a:gd name="adj" fmla="val 12500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6747" y="1344168"/>
            <a:ext cx="9339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77318" y="1545336"/>
            <a:ext cx="13716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14478" y="1325880"/>
            <a:ext cx="1007146" cy="438912"/>
          </a:xfrm>
          <a:prstGeom prst="roundRect">
            <a:avLst>
              <a:gd name="adj" fmla="val 12500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51054" y="1344168"/>
            <a:ext cx="9339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1920240"/>
            <a:ext cx="2621280" cy="2894076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1920240"/>
            <a:ext cx="2621280" cy="54864"/>
          </a:xfrm>
          <a:prstGeom prst="roundRect">
            <a:avLst>
              <a:gd name="adj" fmla="val 83333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" y="2011680"/>
            <a:ext cx="2401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Audit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2267712"/>
            <a:ext cx="2438400" cy="150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810 train images parsed, 10,475 annotations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missing values, 0 duplicate rows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IDs verified 0–12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boxes clipped to valid range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61360" y="1920240"/>
            <a:ext cx="2621280" cy="2894076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61360" y="1920240"/>
            <a:ext cx="2621280" cy="54864"/>
          </a:xfrm>
          <a:prstGeom prst="roundRect">
            <a:avLst>
              <a:gd name="adj" fmla="val 83333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71088" y="2011680"/>
            <a:ext cx="2401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52800" y="2267712"/>
            <a:ext cx="2438400" cy="150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 YOLO framework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BNVD YOLOv8 weights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size: 1280 · Batch: 8 · Seed: 42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Epochs: 60 · Early stopping patience: 15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52800" y="3818352"/>
            <a:ext cx="1178052" cy="329184"/>
          </a:xfrm>
          <a:prstGeom prst="roundRect">
            <a:avLst>
              <a:gd name="adj" fmla="val 13889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89376" y="3836640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
</a:t>
            </a: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0.804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585716" y="3818352"/>
            <a:ext cx="1178052" cy="329184"/>
          </a:xfrm>
          <a:prstGeom prst="roundRect">
            <a:avLst>
              <a:gd name="adj" fmla="val 13889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22292" y="3836640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
</a:t>
            </a: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0.742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352800" y="4193256"/>
            <a:ext cx="1178052" cy="329184"/>
          </a:xfrm>
          <a:prstGeom prst="roundRect">
            <a:avLst>
              <a:gd name="adj" fmla="val 13889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89376" y="4211544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mAP50
</a:t>
            </a: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0.815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585716" y="4193256"/>
            <a:ext cx="1178052" cy="329184"/>
          </a:xfrm>
          <a:prstGeom prst="roundRect">
            <a:avLst>
              <a:gd name="adj" fmla="val 13889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22292" y="4211544"/>
            <a:ext cx="110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mAP50-95
</a:t>
            </a: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0.556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974080" y="1920240"/>
            <a:ext cx="2621280" cy="2894076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974080" y="1920240"/>
            <a:ext cx="2621280" cy="54864"/>
          </a:xfrm>
          <a:prstGeom prst="roundRect">
            <a:avLst>
              <a:gd name="adj" fmla="val 83333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83808" y="2011680"/>
            <a:ext cx="2401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65520" y="2267712"/>
            <a:ext cx="2438400" cy="150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full-image inference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SAHI tiled inference (640×640, 25% overlap)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 threshold to protect recall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327-row output verified, 0 empty predictions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rotWithShape="1">
          <a:gsLst>
            <a:gs pos="0">
              <a:srgbClr val="F5F0EB"/>
            </a:gs>
            <a:gs pos="100000">
              <a:srgbClr val="EDE5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Results, Limitations, and Final Takeaway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8046720" cy="0"/>
          </a:xfrm>
          <a:prstGeom prst="line">
            <a:avLst/>
          </a:prstGeom>
          <a:noFill/>
          <a:ln w="12700">
            <a:solidFill>
              <a:srgbClr val="D4C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943100" cy="694944"/>
          </a:xfrm>
          <a:prstGeom prst="roundRect">
            <a:avLst>
              <a:gd name="adj" fmla="val 10526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316736"/>
            <a:ext cx="172364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#11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1577157"/>
            <a:ext cx="17967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RANK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" y="1730045"/>
            <a:ext cx="1796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0.62279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83180" y="1243584"/>
            <a:ext cx="1943100" cy="694944"/>
          </a:xfrm>
          <a:prstGeom prst="roundRect">
            <a:avLst>
              <a:gd name="adj" fmla="val 10526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92908" y="1316736"/>
            <a:ext cx="172364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#25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6332" y="1577157"/>
            <a:ext cx="17967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RANK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56332" y="1730045"/>
            <a:ext cx="1796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0.59821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17720" y="1243584"/>
            <a:ext cx="1943100" cy="694944"/>
          </a:xfrm>
          <a:prstGeom prst="roundRect">
            <a:avLst>
              <a:gd name="adj" fmla="val 10526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27448" y="1316736"/>
            <a:ext cx="172364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327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90872" y="1577157"/>
            <a:ext cx="17967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 ROWS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90872" y="1730045"/>
            <a:ext cx="1796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outputs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52260" y="1243584"/>
            <a:ext cx="1943100" cy="694944"/>
          </a:xfrm>
          <a:prstGeom prst="roundRect">
            <a:avLst>
              <a:gd name="adj" fmla="val 10526"/>
            </a:avLst>
          </a:prstGeom>
          <a:solidFill>
            <a:srgbClr val="F0E8E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1988" y="1316736"/>
            <a:ext cx="1723644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5412" y="1577157"/>
            <a:ext cx="17967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7A6E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OUTPUTS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25412" y="1730045"/>
            <a:ext cx="1796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coverage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2048256"/>
            <a:ext cx="396849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213969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2450592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2-day window limited deeper tuning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datasets not used 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augmentation can't replace real rare class variety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SAHI improves recall but increases inference 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26864" y="2048256"/>
            <a:ext cx="396849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213969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6592" y="2395728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 test data labeling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leaked labels used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fully automated by pipeline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7674" y="3456432"/>
            <a:ext cx="8046720" cy="1412748"/>
          </a:xfrm>
          <a:prstGeom prst="roundRect">
            <a:avLst>
              <a:gd name="adj" fmla="val 6472"/>
            </a:avLst>
          </a:prstGeom>
          <a:solidFill>
            <a:srgbClr val="FFFFFF"/>
          </a:solidFill>
          <a:ln w="12700">
            <a:solidFill>
              <a:srgbClr val="D4C8B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3438144"/>
            <a:ext cx="8046720" cy="45720"/>
          </a:xfrm>
          <a:prstGeom prst="roundRect">
            <a:avLst>
              <a:gd name="adj" fmla="val 8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6656" y="3593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Takeaway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" y="3703320"/>
            <a:ext cx="779068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major decision came from EDA — imbalance drove rare class handling, small geometry drove 1280 + SAHI, dense scenes drove Mosaic + MixUp, and box overlap drove careful post-processing. Built for recall, robustness, and valid submission in Bangladesh CCTV traffic detection.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A4A42"/>
      </a:dk2>
      <a:lt2>
        <a:srgbClr val="EDE8E3"/>
      </a:lt2>
      <a:accent1>
        <a:srgbClr val="B85042"/>
      </a:accent1>
      <a:accent2>
        <a:srgbClr val="C4793A"/>
      </a:accent2>
      <a:accent3>
        <a:srgbClr val="A09890"/>
      </a:accent3>
      <a:accent4>
        <a:srgbClr val="D4A843"/>
      </a:accent4>
      <a:accent5>
        <a:srgbClr val="C47B5A"/>
      </a:accent5>
      <a:accent6>
        <a:srgbClr val="7A9E6E"/>
      </a:accent6>
      <a:hlink>
        <a:srgbClr val="B85042"/>
      </a:hlink>
      <a:folHlink>
        <a:srgbClr val="8B5E52"/>
      </a:folHlink>
    </a:clrScheme>
    <a:fontScheme name="Office">
      <a:majorFont>
        <a:latin typeface="Cambria" panose="02040503050406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627</Words>
  <Application>Microsoft Office PowerPoint</Application>
  <PresentationFormat>On-screen Show (16:9)</PresentationFormat>
  <Paragraphs>153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RoadVision DUET Vehicle Detection</dc:title>
  <dc:subject>PptxGenJS Presentation</dc:subject>
  <dc:creator>Team Backprop SUST</dc:creator>
  <cp:lastModifiedBy>Mift Adiiib</cp:lastModifiedBy>
  <cp:revision>7</cp:revision>
  <dcterms:created xsi:type="dcterms:W3CDTF">2026-06-26T09:58:07Z</dcterms:created>
  <dcterms:modified xsi:type="dcterms:W3CDTF">2026-07-13T20:00:23Z</dcterms:modified>
</cp:coreProperties>
</file>